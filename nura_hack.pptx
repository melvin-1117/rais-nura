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59" r:id="rId5"/>
  </p:sldIdLst>
  <p:sldSz cx="18288000" cy="10287000"/>
  <p:notesSz cx="6858000" cy="9144000"/>
  <p:embeddedFontLst>
    <p:embeddedFont>
      <p:font typeface="Bitter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5463213" y="8021227"/>
            <a:ext cx="2017314" cy="1468502"/>
          </a:xfrm>
          <a:custGeom>
            <a:avLst/>
            <a:gdLst/>
            <a:ahLst/>
            <a:cxnLst/>
            <a:rect l="l" t="t" r="r" b="b"/>
            <a:pathLst>
              <a:path w="2017314" h="1468502">
                <a:moveTo>
                  <a:pt x="0" y="0"/>
                </a:moveTo>
                <a:lnTo>
                  <a:pt x="2017314" y="0"/>
                </a:lnTo>
                <a:lnTo>
                  <a:pt x="2017314" y="1468502"/>
                </a:lnTo>
                <a:lnTo>
                  <a:pt x="0" y="14685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000"/>
            </a:blip>
            <a:stretch>
              <a:fillRect t="-42432" b="-5186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57803" y="981075"/>
            <a:ext cx="2772395" cy="1512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53"/>
              </a:lnSpc>
            </a:pPr>
            <a:r>
              <a:rPr lang="en-US" sz="9664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Title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05200" y="3031994"/>
            <a:ext cx="11501616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IN" sz="6000" dirty="0"/>
              <a:t>Real-Time Audio Intelligence System</a:t>
            </a:r>
            <a:endParaRPr lang="en-US" sz="5562" dirty="0">
              <a:solidFill>
                <a:srgbClr val="2C3F42">
                  <a:alpha val="61961"/>
                </a:srgbClr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27158" y="7669675"/>
            <a:ext cx="6673842" cy="678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72"/>
              </a:lnSpc>
            </a:pPr>
            <a:r>
              <a:rPr lang="en-US" sz="4388" dirty="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Name : Antony Melvin 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7158" y="8603225"/>
            <a:ext cx="9340842" cy="642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34"/>
              </a:lnSpc>
            </a:pPr>
            <a:r>
              <a:rPr lang="en-US" sz="4196" dirty="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College: Kings Engineering college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76" y="15773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069194" y="1322440"/>
            <a:ext cx="14149460" cy="929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4"/>
              </a:lnSpc>
            </a:pPr>
            <a:r>
              <a:rPr lang="en-US" sz="5881" dirty="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 Understanding the 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52600" y="3009900"/>
            <a:ext cx="14858999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Bitter" panose="020B0604020202020204" charset="0"/>
              </a:rPr>
              <a:t>Speaker Count: figure out how many different people are speaking in an audio recording.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Bitter" panose="020B0604020202020204" charset="0"/>
              </a:rPr>
              <a:t>Speaker-wise Transcript: convert speech to text and show exactly who spoke what and when.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Bitter" panose="020B0604020202020204" charset="0"/>
              </a:rPr>
              <a:t>Speaker Recognition: match detected speakers with known profiles (names), and mark unknown speakers.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Bitter" panose="020B0604020202020204" charset="0"/>
              </a:rPr>
              <a:t>Background Sound Segregation: separate voice from background noise so speech analysis is cleaner.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Bitter" panose="020B0604020202020204" charset="0"/>
              </a:rPr>
              <a:t>Sound Categorization: detect background sounds and group them into categories like Natural, Artificial, Human Activity, Music, and Animal.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Bitter" panose="020B0604020202020204" charset="0"/>
              </a:rPr>
              <a:t>Distance Estimation: estimate how near or far each sound source/speaker is from the microphone.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Bitter" panose="020B0604020202020204" charset="0"/>
              </a:rPr>
              <a:t>Intensity Analysis: measure loudness/strength of sounds and classify intensity levels (low/medium/high).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Bitter" panose="020B0604020202020204" charset="0"/>
              </a:rPr>
              <a:t>Live Audio Intelligence: run all the above in near real-time while audio is streaming, and show live dashboard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6477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00595" y="890587"/>
            <a:ext cx="15086810" cy="8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dirty="0">
                <a:latin typeface="Bitter"/>
                <a:ea typeface="Bitter"/>
                <a:cs typeface="Bitter"/>
                <a:sym typeface="Bitter"/>
              </a:rPr>
              <a:t>Milestones Achieved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8116" y="3010042"/>
            <a:ext cx="7106684" cy="931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01"/>
              </a:lnSpc>
            </a:pPr>
            <a:r>
              <a:rPr lang="en-US" sz="2968" b="1" dirty="0">
                <a:latin typeface="Bitter"/>
                <a:ea typeface="Bitter"/>
                <a:cs typeface="Bitter"/>
                <a:sym typeface="Bitter"/>
              </a:rPr>
              <a:t>Milestone 1 </a:t>
            </a: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-  Speaker count extraction</a:t>
            </a:r>
          </a:p>
          <a:p>
            <a:pPr marL="640879" lvl="1" indent="-320440" algn="just">
              <a:lnSpc>
                <a:spcPts val="3701"/>
              </a:lnSpc>
              <a:buFont typeface="Arial"/>
              <a:buChar char="•"/>
            </a:pP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 Completed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8116" y="4385656"/>
            <a:ext cx="8325884" cy="931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01"/>
              </a:lnSpc>
            </a:pPr>
            <a:r>
              <a:rPr lang="en-US" sz="2968" b="1" dirty="0">
                <a:latin typeface="Bitter"/>
                <a:ea typeface="Bitter"/>
                <a:cs typeface="Bitter"/>
                <a:sym typeface="Bitter"/>
              </a:rPr>
              <a:t>Milestone 2 </a:t>
            </a: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– Speaker wise speech extraction</a:t>
            </a:r>
          </a:p>
          <a:p>
            <a:pPr marL="640879" lvl="1" indent="-320440" algn="just">
              <a:lnSpc>
                <a:spcPts val="3701"/>
              </a:lnSpc>
              <a:buFont typeface="Arial"/>
              <a:buChar char="•"/>
            </a:pP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Completed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8116" y="5761270"/>
            <a:ext cx="7814579" cy="939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1"/>
              </a:lnSpc>
            </a:pPr>
            <a:r>
              <a:rPr lang="en-US" sz="2968" b="1" dirty="0">
                <a:latin typeface="Bitter"/>
                <a:ea typeface="Bitter"/>
                <a:cs typeface="Bitter"/>
                <a:sym typeface="Bitter"/>
              </a:rPr>
              <a:t>Milestone 3- </a:t>
            </a: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Speaker recognition</a:t>
            </a:r>
          </a:p>
          <a:p>
            <a:pPr marL="640879" lvl="1" indent="-320440" algn="just">
              <a:lnSpc>
                <a:spcPts val="3701"/>
              </a:lnSpc>
              <a:buFont typeface="Arial"/>
              <a:buChar char="•"/>
            </a:pP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Completed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8116" y="7136884"/>
            <a:ext cx="8019071" cy="931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01"/>
              </a:lnSpc>
            </a:pPr>
            <a:r>
              <a:rPr lang="en-US" sz="2968" b="1" dirty="0">
                <a:latin typeface="Bitter"/>
                <a:ea typeface="Bitter"/>
                <a:cs typeface="Bitter"/>
                <a:sym typeface="Bitter"/>
              </a:rPr>
              <a:t>Milestone 4- </a:t>
            </a: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Background sound segregation</a:t>
            </a:r>
          </a:p>
          <a:p>
            <a:pPr marL="640879" lvl="1" indent="-320440" algn="just">
              <a:lnSpc>
                <a:spcPts val="3701"/>
              </a:lnSpc>
              <a:buFont typeface="Arial"/>
              <a:buChar char="•"/>
            </a:pP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Completed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6149" y="3010042"/>
            <a:ext cx="7814579" cy="939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1"/>
              </a:lnSpc>
            </a:pPr>
            <a:r>
              <a:rPr lang="en-US" sz="2968" b="1" dirty="0">
                <a:latin typeface="Bitter"/>
                <a:ea typeface="Bitter"/>
                <a:cs typeface="Bitter"/>
                <a:sym typeface="Bitter"/>
              </a:rPr>
              <a:t>Milestone 5- </a:t>
            </a: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sound categorization</a:t>
            </a:r>
          </a:p>
          <a:p>
            <a:pPr marL="640879" lvl="1" indent="-320440" algn="just">
              <a:lnSpc>
                <a:spcPts val="3701"/>
              </a:lnSpc>
              <a:buFont typeface="Arial"/>
              <a:buChar char="•"/>
            </a:pP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Completed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55304" y="4385656"/>
            <a:ext cx="7814579" cy="939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1"/>
              </a:lnSpc>
            </a:pPr>
            <a:r>
              <a:rPr lang="en-US" sz="2968" b="1" dirty="0">
                <a:latin typeface="Bitter"/>
                <a:ea typeface="Bitter"/>
                <a:cs typeface="Bitter"/>
                <a:sym typeface="Bitter"/>
              </a:rPr>
              <a:t>Milestone 6- </a:t>
            </a: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sound distance estimation</a:t>
            </a:r>
          </a:p>
          <a:p>
            <a:pPr marL="640879" lvl="1" indent="-320440" algn="just">
              <a:lnSpc>
                <a:spcPts val="3701"/>
              </a:lnSpc>
              <a:buFont typeface="Arial"/>
              <a:buChar char="•"/>
            </a:pP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Partially completed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55304" y="5761270"/>
            <a:ext cx="7814579" cy="939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1"/>
              </a:lnSpc>
            </a:pPr>
            <a:r>
              <a:rPr lang="en-US" sz="2968" b="1" dirty="0">
                <a:latin typeface="Bitter"/>
                <a:ea typeface="Bitter"/>
                <a:cs typeface="Bitter"/>
                <a:sym typeface="Bitter"/>
              </a:rPr>
              <a:t>Milestone 7- </a:t>
            </a: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sound intensity analysis</a:t>
            </a:r>
          </a:p>
          <a:p>
            <a:pPr marL="640879" lvl="1" indent="-320440" algn="just">
              <a:lnSpc>
                <a:spcPts val="3701"/>
              </a:lnSpc>
              <a:buFont typeface="Arial"/>
              <a:buChar char="•"/>
            </a:pPr>
            <a:r>
              <a:rPr lang="en-US" sz="2968" dirty="0">
                <a:latin typeface="Bitter"/>
                <a:ea typeface="Bitter"/>
                <a:cs typeface="Bitter"/>
                <a:sym typeface="Bitter"/>
              </a:rPr>
              <a:t>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382729"/>
            <a:ext cx="16303523" cy="8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Core Architecture (Tools, Tech Stack)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0806" y="3304837"/>
            <a:ext cx="16303523" cy="4391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8888" lvl="1" indent="-374444">
              <a:lnSpc>
                <a:spcPts val="4325"/>
              </a:lnSpc>
              <a:buFont typeface="Arial"/>
              <a:buChar char="•"/>
            </a:pPr>
            <a:r>
              <a:rPr lang="en-US" sz="3600" dirty="0">
                <a:latin typeface="Bitter"/>
                <a:ea typeface="Bitter"/>
                <a:cs typeface="Bitter"/>
                <a:sym typeface="Bitter"/>
              </a:rPr>
              <a:t>Speaker count extraction - </a:t>
            </a:r>
            <a:r>
              <a:rPr lang="en-US" sz="3600" dirty="0" err="1">
                <a:latin typeface="Bitter"/>
                <a:ea typeface="Bitter"/>
                <a:cs typeface="Bitter"/>
                <a:sym typeface="Bitter"/>
              </a:rPr>
              <a:t>Pyannote.audio</a:t>
            </a:r>
            <a:r>
              <a:rPr lang="en-US" sz="3600" dirty="0">
                <a:latin typeface="Bitter"/>
                <a:ea typeface="Bitter"/>
                <a:cs typeface="Bitter"/>
                <a:sym typeface="Bitter"/>
              </a:rPr>
              <a:t> (with </a:t>
            </a:r>
            <a:r>
              <a:rPr lang="en-US" sz="3600" dirty="0" err="1">
                <a:latin typeface="Bitter"/>
                <a:ea typeface="Bitter"/>
                <a:cs typeface="Bitter"/>
                <a:sym typeface="Bitter"/>
              </a:rPr>
              <a:t>PyTorch</a:t>
            </a:r>
            <a:r>
              <a:rPr lang="en-US" sz="3600" dirty="0">
                <a:latin typeface="Bitter"/>
                <a:ea typeface="Bitter"/>
                <a:cs typeface="Bitter"/>
                <a:sym typeface="Bitter"/>
              </a:rPr>
              <a:t>)</a:t>
            </a:r>
          </a:p>
          <a:p>
            <a:pPr marL="748888" lvl="1" indent="-374444">
              <a:lnSpc>
                <a:spcPts val="4325"/>
              </a:lnSpc>
              <a:buFont typeface="Arial"/>
              <a:buChar char="•"/>
            </a:pPr>
            <a:r>
              <a:rPr lang="en-US" sz="3600" dirty="0">
                <a:latin typeface="Bitter"/>
                <a:ea typeface="Bitter"/>
                <a:cs typeface="Bitter"/>
                <a:sym typeface="Bitter"/>
              </a:rPr>
              <a:t>Speaker wise speech extraction - </a:t>
            </a:r>
            <a:r>
              <a:rPr lang="en-US" sz="3600" dirty="0" err="1">
                <a:latin typeface="Bitter"/>
                <a:ea typeface="Bitter"/>
                <a:cs typeface="Bitter"/>
                <a:sym typeface="Bitter"/>
              </a:rPr>
              <a:t>AssemblyAI</a:t>
            </a:r>
            <a:r>
              <a:rPr lang="en-US" sz="3600" dirty="0">
                <a:latin typeface="Bitter"/>
                <a:ea typeface="Bitter"/>
                <a:cs typeface="Bitter"/>
                <a:sym typeface="Bitter"/>
              </a:rPr>
              <a:t>/Whisper + </a:t>
            </a:r>
            <a:r>
              <a:rPr lang="en-US" sz="3600" dirty="0" err="1">
                <a:latin typeface="Bitter"/>
                <a:ea typeface="Bitter"/>
                <a:cs typeface="Bitter"/>
                <a:sym typeface="Bitter"/>
              </a:rPr>
              <a:t>Pyannote</a:t>
            </a:r>
            <a:endParaRPr lang="en-US" sz="3600" dirty="0">
              <a:latin typeface="Bitter"/>
              <a:ea typeface="Bitter"/>
              <a:cs typeface="Bitter"/>
              <a:sym typeface="Bitter"/>
            </a:endParaRPr>
          </a:p>
          <a:p>
            <a:pPr marL="748888" lvl="1" indent="-374444">
              <a:lnSpc>
                <a:spcPts val="4325"/>
              </a:lnSpc>
              <a:buFont typeface="Arial"/>
              <a:buChar char="•"/>
            </a:pPr>
            <a:r>
              <a:rPr lang="en-US" sz="3600" dirty="0">
                <a:latin typeface="Bitter"/>
                <a:ea typeface="Bitter"/>
                <a:cs typeface="Bitter"/>
                <a:sym typeface="Bitter"/>
              </a:rPr>
              <a:t>Speaker recognition - ONNX Runtime + ECAPA-TDNN embeddings</a:t>
            </a:r>
          </a:p>
          <a:p>
            <a:pPr marL="748888" lvl="1" indent="-374444">
              <a:lnSpc>
                <a:spcPts val="4325"/>
              </a:lnSpc>
              <a:buFont typeface="Arial"/>
              <a:buChar char="•"/>
            </a:pPr>
            <a:r>
              <a:rPr lang="en-US" sz="3468" dirty="0">
                <a:latin typeface="Bitter"/>
                <a:ea typeface="Bitter"/>
                <a:cs typeface="Bitter"/>
                <a:sym typeface="Bitter"/>
              </a:rPr>
              <a:t>Background sound segregation - </a:t>
            </a:r>
            <a:r>
              <a:rPr lang="en-US" sz="3468" dirty="0" err="1">
                <a:latin typeface="Bitter"/>
                <a:ea typeface="Bitter"/>
                <a:cs typeface="Bitter"/>
                <a:sym typeface="Bitter"/>
              </a:rPr>
              <a:t>Demucs</a:t>
            </a:r>
            <a:r>
              <a:rPr lang="en-US" sz="3468" dirty="0">
                <a:latin typeface="Bitter"/>
                <a:ea typeface="Bitter"/>
                <a:cs typeface="Bitter"/>
                <a:sym typeface="Bitter"/>
              </a:rPr>
              <a:t> v4 source separation</a:t>
            </a:r>
          </a:p>
          <a:p>
            <a:pPr marL="748888" lvl="1" indent="-374444">
              <a:lnSpc>
                <a:spcPts val="4325"/>
              </a:lnSpc>
              <a:buFont typeface="Arial"/>
              <a:buChar char="•"/>
            </a:pPr>
            <a:r>
              <a:rPr lang="en-US" sz="3468" dirty="0">
                <a:latin typeface="Bitter"/>
                <a:ea typeface="Bitter"/>
                <a:cs typeface="Bitter"/>
                <a:sym typeface="Bitter"/>
              </a:rPr>
              <a:t>sound categorization - </a:t>
            </a:r>
            <a:r>
              <a:rPr lang="en-US" sz="3468" dirty="0" err="1">
                <a:latin typeface="Bitter"/>
                <a:ea typeface="Bitter"/>
                <a:cs typeface="Bitter"/>
                <a:sym typeface="Bitter"/>
              </a:rPr>
              <a:t>YAMNet</a:t>
            </a:r>
            <a:r>
              <a:rPr lang="en-US" sz="3468" dirty="0">
                <a:latin typeface="Bitter"/>
                <a:ea typeface="Bitter"/>
                <a:cs typeface="Bitter"/>
                <a:sym typeface="Bitter"/>
              </a:rPr>
              <a:t> via TensorFlow Hub</a:t>
            </a:r>
          </a:p>
          <a:p>
            <a:pPr marL="748888" lvl="1" indent="-374444">
              <a:lnSpc>
                <a:spcPts val="4325"/>
              </a:lnSpc>
              <a:buFont typeface="Arial"/>
              <a:buChar char="•"/>
            </a:pPr>
            <a:r>
              <a:rPr lang="en-US" sz="3468" dirty="0">
                <a:latin typeface="Bitter"/>
                <a:ea typeface="Bitter"/>
                <a:cs typeface="Bitter"/>
                <a:sym typeface="Bitter"/>
              </a:rPr>
              <a:t>sound distance estimation - Audio-feature heuristic stack</a:t>
            </a:r>
          </a:p>
          <a:p>
            <a:pPr marL="748888" lvl="1" indent="-374444">
              <a:lnSpc>
                <a:spcPts val="4325"/>
              </a:lnSpc>
              <a:buFont typeface="Arial"/>
              <a:buChar char="•"/>
            </a:pPr>
            <a:r>
              <a:rPr lang="en-US" sz="3468" dirty="0">
                <a:latin typeface="Bitter"/>
                <a:ea typeface="Bitter"/>
                <a:cs typeface="Bitter"/>
                <a:sym typeface="Bitter"/>
              </a:rPr>
              <a:t>sound intensity analysis - MS/energy-based loudness heuristics</a:t>
            </a:r>
          </a:p>
          <a:p>
            <a:pPr algn="l">
              <a:lnSpc>
                <a:spcPts val="4325"/>
              </a:lnSpc>
            </a:pPr>
            <a:endParaRPr lang="en-US" sz="3468" dirty="0">
              <a:latin typeface="Bitter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294</Words>
  <Application>Microsoft Office PowerPoint</Application>
  <PresentationFormat>Custom</PresentationFormat>
  <Paragraphs>48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Bitter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Your-CompanyProject-Name-Driving-Innovation-Forward.pptx</dc:title>
  <dc:creator>Balasuriya</dc:creator>
  <cp:lastModifiedBy>Antony Melvin</cp:lastModifiedBy>
  <cp:revision>3</cp:revision>
  <dcterms:created xsi:type="dcterms:W3CDTF">2006-08-16T00:00:00Z</dcterms:created>
  <dcterms:modified xsi:type="dcterms:W3CDTF">2026-03-22T04:33:36Z</dcterms:modified>
  <dc:identifier>DAHEoB983tM</dc:identifier>
</cp:coreProperties>
</file>